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777240"/>
            <a:ext cx="310896" cy="310896"/>
          </a:xfrm>
          <a:prstGeom prst="ellipse">
            <a:avLst/>
          </a:prstGeom>
          <a:noFill/>
          <a:ln w="25400">
            <a:solidFill>
              <a:srgbClr val="F4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8839" y="867399"/>
            <a:ext cx="130576" cy="130576"/>
          </a:xfrm>
          <a:prstGeom prst="ellipse">
            <a:avLst/>
          </a:prstGeom>
          <a:solidFill>
            <a:srgbClr val="8B7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75895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4F5F6"/>
                </a:solidFill>
                <a:latin typeface="Arial"/>
              </a:rPr>
              <a:t> Sotto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4F5F6"/>
                </a:solidFill>
                <a:latin typeface="Arial"/>
              </a:rPr>
              <a:t>Confidential payouts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5400" b="1">
                <a:solidFill>
                  <a:srgbClr val="F4F5F6"/>
                </a:solidFill>
                <a:latin typeface="Arial"/>
              </a:rPr>
              <a:t>on a public ledger.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9FA7"/>
                </a:solidFill>
                <a:latin typeface="Arial"/>
              </a:rPr>
              <a:t>Pay your whole team in one batch — each party sees only their own line, an auditor verifies everything, and it all settles atomically.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4FD497"/>
                </a:solidFill>
                <a:latin typeface="Arial"/>
              </a:rPr>
              <a:t>● </a:t>
            </a:r>
            <a:r>
              <a:rPr sz="1300" b="1">
                <a:solidFill>
                  <a:srgbClr val="F4F5F6"/>
                </a:solidFill>
                <a:latin typeface="Arial"/>
              </a:rPr>
              <a:t>Live on Canton</a:t>
            </a:r>
            <a:r>
              <a:rPr sz="1300" b="0">
                <a:solidFill>
                  <a:srgbClr val="6B6F77"/>
                </a:solidFill>
                <a:latin typeface="Arial"/>
              </a:rPr>
              <a:t>    Frank · Build on Canton (ENCODE Club)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8B7DF8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4F5F6"/>
                </a:solidFill>
                <a:latin typeface="Arial"/>
              </a:rPr>
              <a:t>Pay your team on-chain, 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200"/>
              </a:spcAft>
            </a:pPr>
            <a:r>
              <a:rPr sz="4400" b="1">
                <a:solidFill>
                  <a:srgbClr val="F4F5F6"/>
                </a:solidFill>
                <a:latin typeface="Arial"/>
              </a:rPr>
              <a:t>you've </a:t>
            </a:r>
            <a:r>
              <a:rPr sz="4400" b="1">
                <a:solidFill>
                  <a:srgbClr val="8B7DF8"/>
                </a:solidFill>
                <a:latin typeface="Arial"/>
              </a:rPr>
              <a:t>published the payroll.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9A9FA7"/>
                </a:solidFill>
                <a:latin typeface="Arial"/>
              </a:rPr>
              <a:t>Every blockchain payment is public by default. That single fact is why payroll, grants, and token distributions still run off-chain — or leak. Privacy is the thing keeping real money off public 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8B7DF8"/>
                </a:solidFill>
                <a:latin typeface="Consolas"/>
              </a:rP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4F5F6"/>
                </a:solidFill>
                <a:latin typeface="Arial"/>
              </a:rPr>
              <a:t>One batch. Four kinds of eyes.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9A9FA7"/>
                </a:solidFill>
                <a:latin typeface="Arial"/>
              </a:rPr>
              <a:t>A payout isn't one audience — it's four. Sotto serves all four from one shared batch, and the ledger shows each party only what they're allowed to see.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160520"/>
            <a:ext cx="2542032" cy="201168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628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4F5F6"/>
                </a:solidFill>
                <a:latin typeface="Arial"/>
              </a:rPr>
              <a:t>Payer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B7DF8"/>
                </a:solidFill>
                <a:latin typeface="Consolas"/>
              </a:rPr>
              <a:t>Lumen Studio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9FA7"/>
                </a:solidFill>
                <a:latin typeface="Arial"/>
              </a:rPr>
              <a:t>The whole batch. Runs the payout.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11296" y="4160520"/>
            <a:ext cx="2542032" cy="201168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628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4F5F6"/>
                </a:solidFill>
                <a:latin typeface="Arial"/>
              </a:rPr>
              <a:t>Recipient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B7DF8"/>
                </a:solidFill>
                <a:latin typeface="Consolas"/>
              </a:rPr>
              <a:t>Amara Okafor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9FA7"/>
                </a:solidFill>
                <a:latin typeface="Arial"/>
              </a:rPr>
              <a:t>Only her own line. Nothing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1" y="4160520"/>
            <a:ext cx="2542032" cy="201168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628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4F5F6"/>
                </a:solidFill>
                <a:latin typeface="Arial"/>
              </a:rPr>
              <a:t>Approver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B7DF8"/>
                </a:solidFill>
                <a:latin typeface="Consolas"/>
              </a:rPr>
              <a:t>Priya Raman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9FA7"/>
                </a:solidFill>
                <a:latin typeface="Arial"/>
              </a:rPr>
              <a:t>Only the over-threshold payment.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87967" y="4160520"/>
            <a:ext cx="2542032" cy="201168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628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4F5F6"/>
                </a:solidFill>
                <a:latin typeface="Arial"/>
              </a:rPr>
              <a:t>Auditor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B7DF8"/>
                </a:solidFill>
                <a:latin typeface="Consolas"/>
              </a:rPr>
              <a:t>Hale &amp; Co.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9FA7"/>
                </a:solidFill>
                <a:latin typeface="Arial"/>
              </a:rPr>
              <a:t>Every receipt — read-only.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8B7DF8"/>
                </a:solidFill>
                <a:latin typeface="Consolas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>
                <a:solidFill>
                  <a:srgbClr val="F4F5F6"/>
                </a:solidFill>
                <a:latin typeface="Arial"/>
              </a:rPr>
              <a:t>One batch in. Four private views out.</a:t>
            </a:r>
          </a:p>
        </p:txBody>
      </p:sp>
      <p:pic>
        <p:nvPicPr>
          <p:cNvPr id="4" name="Picture 3" descr="pay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965960"/>
            <a:ext cx="9326880" cy="5829300"/>
          </a:xfrm>
          <a:prstGeom prst="rect">
            <a:avLst/>
          </a:prstGeom>
          <a:ln w="12700">
            <a:solidFill>
              <a:srgbClr val="2E3036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8B7DF8"/>
                </a:solidFill>
                <a:latin typeface="Consolas"/>
              </a:rPr>
              <a:t>THE WHOLE PITCH, IN ONE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>
                <a:solidFill>
                  <a:srgbClr val="F4F5F6"/>
                </a:solidFill>
                <a:latin typeface="Arial"/>
              </a:rPr>
              <a:t>Same batch. Same instant. Two truths.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4F5F6"/>
                </a:solidFill>
                <a:latin typeface="Consolas"/>
              </a:rPr>
              <a:t>PAYER</a:t>
            </a:r>
            <a:r>
              <a:rPr sz="1300" b="0">
                <a:solidFill>
                  <a:srgbClr val="9A9FA7"/>
                </a:solidFill>
                <a:latin typeface="Arial"/>
              </a:rPr>
              <a:t>  — sees all six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4FD497"/>
                </a:solidFill>
                <a:latin typeface="Consolas"/>
              </a:rPr>
              <a:t>RECIPIENT</a:t>
            </a:r>
            <a:r>
              <a:rPr sz="1300" b="0">
                <a:solidFill>
                  <a:srgbClr val="9A9FA7"/>
                </a:solidFill>
                <a:latin typeface="Arial"/>
              </a:rPr>
              <a:t>  — sees one</a:t>
            </a:r>
          </a:p>
        </p:txBody>
      </p:sp>
      <p:pic>
        <p:nvPicPr>
          <p:cNvPr id="6" name="Picture 5" descr="pay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86000"/>
            <a:ext cx="5532120" cy="3457575"/>
          </a:xfrm>
          <a:prstGeom prst="rect">
            <a:avLst/>
          </a:prstGeom>
          <a:ln w="12700">
            <a:solidFill>
              <a:srgbClr val="2E3036"/>
            </a:solidFill>
          </a:ln>
        </p:spPr>
      </p:pic>
      <p:pic>
        <p:nvPicPr>
          <p:cNvPr id="7" name="Picture 6" descr="recipient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86000"/>
            <a:ext cx="5532120" cy="3457575"/>
          </a:xfrm>
          <a:prstGeom prst="rect">
            <a:avLst/>
          </a:prstGeom>
          <a:ln w="12700">
            <a:solidFill>
              <a:srgbClr val="2E303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22960" y="6263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B6F77"/>
                </a:solidFill>
                <a:latin typeface="Arial"/>
              </a:rPr>
              <a:t>The other five aren't blurred — they never arrived. The ledger never disclosed them to 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8B7DF8"/>
                </a:solidFill>
                <a:latin typeface="Consola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>
                <a:solidFill>
                  <a:srgbClr val="F4F5F6"/>
                </a:solidFill>
                <a:latin typeface="Arial"/>
              </a:rPr>
              <a:t>Privacy isn't a setting. It's the contract.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2286000"/>
          <a:ext cx="1042416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6126480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B6F77"/>
                          </a:solidFill>
                          <a:latin typeface="Arial"/>
                        </a:rPr>
                        <a:t>Daml contract</a:t>
                      </a:r>
                    </a:p>
                  </a:txBody>
                  <a:tcPr anchor="ctr" marL="228600" marT="73152" marB="73152">
                    <a:solidFill>
                      <a:srgbClr val="1A1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B6F77"/>
                          </a:solidFill>
                          <a:latin typeface="Arial"/>
                        </a:rPr>
                        <a:t>Who the ledger discloses it to</a:t>
                      </a:r>
                    </a:p>
                  </a:txBody>
                  <a:tcPr anchor="ctr" marL="228600" marT="73152" marB="73152">
                    <a:solidFill>
                      <a:srgbClr val="1A1B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5F6"/>
                          </a:solidFill>
                          <a:latin typeface="Consolas"/>
                        </a:rPr>
                        <a:t>Holding</a:t>
                      </a:r>
                    </a:p>
                  </a:txBody>
                  <a:tcPr anchor="ctr" marL="228600" marT="73152" marB="73152">
                    <a:solidFill>
                      <a:srgbClr val="1516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9A9FA7"/>
                          </a:solidFill>
                          <a:latin typeface="Arial"/>
                        </a:rPr>
                        <a:t>issuer + owner only</a:t>
                      </a:r>
                    </a:p>
                  </a:txBody>
                  <a:tcPr anchor="ctr" marL="228600" marT="73152" marB="73152">
                    <a:solidFill>
                      <a:srgbClr val="15161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5F6"/>
                          </a:solidFill>
                          <a:latin typeface="Consolas"/>
                        </a:rPr>
                        <a:t>DisbursementReceipt</a:t>
                      </a:r>
                    </a:p>
                  </a:txBody>
                  <a:tcPr anchor="ctr" marL="228600" marT="73152" marB="73152">
                    <a:solidFill>
                      <a:srgbClr val="1516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9A9FA7"/>
                          </a:solidFill>
                          <a:latin typeface="Arial"/>
                        </a:rPr>
                        <a:t>its recipient + the auditor</a:t>
                      </a:r>
                    </a:p>
                  </a:txBody>
                  <a:tcPr anchor="ctr" marL="228600" marT="73152" marB="73152">
                    <a:solidFill>
                      <a:srgbClr val="15161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5F6"/>
                          </a:solidFill>
                          <a:latin typeface="Consolas"/>
                        </a:rPr>
                        <a:t>PayoutMandate</a:t>
                      </a:r>
                    </a:p>
                  </a:txBody>
                  <a:tcPr anchor="ctr" marL="228600" marT="73152" marB="73152">
                    <a:solidFill>
                      <a:srgbClr val="1516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9A9FA7"/>
                          </a:solidFill>
                          <a:latin typeface="Arial"/>
                        </a:rPr>
                        <a:t>payer + auditor  (atomic Disburse)</a:t>
                      </a:r>
                    </a:p>
                  </a:txBody>
                  <a:tcPr anchor="ctr" marL="228600" marT="73152" marB="73152">
                    <a:solidFill>
                      <a:srgbClr val="15161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5F6"/>
                          </a:solidFill>
                          <a:latin typeface="Consolas"/>
                        </a:rPr>
                        <a:t>LargePaymentProposal</a:t>
                      </a:r>
                    </a:p>
                  </a:txBody>
                  <a:tcPr anchor="ctr" marL="228600" marT="73152" marB="73152">
                    <a:solidFill>
                      <a:srgbClr val="1516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9A9FA7"/>
                          </a:solidFill>
                          <a:latin typeface="Arial"/>
                        </a:rPr>
                        <a:t>+ approver  (maker–checker)</a:t>
                      </a:r>
                    </a:p>
                  </a:txBody>
                  <a:tcPr anchor="ctr" marL="228600" marT="73152" marB="73152">
                    <a:solidFill>
                      <a:srgbClr val="15161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6692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9A9FA7"/>
                </a:solidFill>
                <a:latin typeface="Arial"/>
              </a:rPr>
              <a:t>Machine-checked: </a:t>
            </a:r>
            <a:r>
              <a:rPr sz="1400" b="1">
                <a:solidFill>
                  <a:srgbClr val="8B7DF8"/>
                </a:solidFill>
                <a:latin typeface="Consolas"/>
              </a:rPr>
              <a:t>dpm test</a:t>
            </a:r>
            <a:r>
              <a:rPr sz="1400" b="0">
                <a:solidFill>
                  <a:srgbClr val="9A9FA7"/>
                </a:solidFill>
                <a:latin typeface="Arial"/>
              </a:rPr>
              <a:t> asserts each party's visibility — green, before any UI exists.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8B7DF8"/>
                </a:solidFill>
                <a:latin typeface="Consolas"/>
              </a:rPr>
              <a:t>WHY CANTON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4F5F6"/>
                </a:solidFill>
                <a:latin typeface="Arial"/>
              </a:rPr>
              <a:t>Private and atomic — in one L1.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9A9FA7"/>
                </a:solidFill>
                <a:latin typeface="Arial"/>
              </a:rPr>
              <a:t>Most chains make you choose. Canton doesn't.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657600"/>
            <a:ext cx="5212080" cy="2377440"/>
          </a:xfrm>
          <a:prstGeom prst="roundRect">
            <a:avLst/>
          </a:prstGeom>
          <a:solidFill>
            <a:srgbClr val="151619"/>
          </a:solidFill>
          <a:ln w="15875">
            <a:solidFill>
              <a:srgbClr val="2628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56032" rIns="274320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9A9FA7"/>
                </a:solidFill>
                <a:latin typeface="Arial"/>
              </a:rPr>
              <a:t>Public chain (e.g. Ethereum)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9A9FA7"/>
                </a:solidFill>
                <a:latin typeface="Arial"/>
              </a:rPr>
              <a:t>Atomic settlement — but every party sees everything. Privacy is a bolt-on: mixers, ZK.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3657600"/>
            <a:ext cx="5212080" cy="2377440"/>
          </a:xfrm>
          <a:prstGeom prst="roundRect">
            <a:avLst/>
          </a:prstGeom>
          <a:solidFill>
            <a:srgbClr val="151619"/>
          </a:solidFill>
          <a:ln w="15875">
            <a:solidFill>
              <a:srgbClr val="8B7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56032" rIns="274320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4F5F6"/>
                </a:solidFill>
                <a:latin typeface="Arial"/>
              </a:rPr>
              <a:t>Canton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9A9FA7"/>
                </a:solidFill>
                <a:latin typeface="Arial"/>
              </a:rPr>
              <a:t>Sub-transaction privacy AND atomic multi-party settlement, native. Each party sees only their part.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8B7DF8"/>
                </a:solidFill>
                <a:latin typeface="Consolas"/>
              </a:rPr>
              <a:t>WHAT'S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4F5F6"/>
                </a:solidFill>
                <a:latin typeface="Arial"/>
              </a:rPr>
              <a:t>This isn't a mockup.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3400" b="1">
                <a:solidFill>
                  <a:srgbClr val="F4F5F6"/>
                </a:solidFill>
                <a:latin typeface="Arial"/>
              </a:rPr>
              <a:t>It's </a:t>
            </a:r>
            <a:r>
              <a:rPr sz="3400" b="1">
                <a:solidFill>
                  <a:srgbClr val="4FD497"/>
                </a:solidFill>
                <a:latin typeface="Arial"/>
              </a:rPr>
              <a:t>live on Canton.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4FD497"/>
                </a:solidFill>
                <a:latin typeface="Arial"/>
              </a:rPr>
              <a:t>✓  </a:t>
            </a:r>
            <a:r>
              <a:rPr sz="1600" b="0">
                <a:solidFill>
                  <a:srgbClr val="F4F5F6"/>
                </a:solidFill>
                <a:latin typeface="Arial"/>
              </a:rPr>
              <a:t>Live ledger — the console reads &amp; writes real Canton contracts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4FD497"/>
                </a:solidFill>
                <a:latin typeface="Arial"/>
              </a:rPr>
              <a:t>✓  </a:t>
            </a:r>
            <a:r>
              <a:rPr sz="1600" b="0">
                <a:solidFill>
                  <a:srgbClr val="F4F5F6"/>
                </a:solidFill>
                <a:latin typeface="Arial"/>
              </a:rPr>
              <a:t>Backend — RS256 / JWKS auth · just-in-time wallets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4FD497"/>
                </a:solidFill>
                <a:latin typeface="Arial"/>
              </a:rPr>
              <a:t>✓  </a:t>
            </a:r>
            <a:r>
              <a:rPr sz="1600" b="0">
                <a:solidFill>
                  <a:srgbClr val="F4F5F6"/>
                </a:solidFill>
                <a:latin typeface="Arial"/>
              </a:rPr>
              <a:t>Daml model — privacy proven green in test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6B6F77"/>
                </a:solidFill>
                <a:latin typeface="Arial"/>
              </a:rPr>
              <a:t>Sample data is only the fallback, so the demo can never break.</a:t>
            </a:r>
          </a:p>
        </p:txBody>
      </p:sp>
      <p:pic>
        <p:nvPicPr>
          <p:cNvPr id="4" name="Picture 3" descr="recipient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5029200" cy="3143250"/>
          </a:xfrm>
          <a:prstGeom prst="rect">
            <a:avLst/>
          </a:prstGeom>
          <a:ln w="12700">
            <a:solidFill>
              <a:srgbClr val="2E3036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8B7DF8"/>
                </a:solidFill>
                <a:latin typeface="Consolas"/>
              </a:rPr>
              <a:t>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800"/>
              </a:spcAft>
            </a:pPr>
            <a:r>
              <a:rPr sz="4200" b="1">
                <a:solidFill>
                  <a:srgbClr val="F4F5F6"/>
                </a:solidFill>
                <a:latin typeface="Arial"/>
              </a:rPr>
              <a:t>No seed phrase. No wallet to connect.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9A9FA7"/>
                </a:solidFill>
                <a:latin typeface="Arial"/>
              </a:rPr>
              <a:t>Users log in with email or SSO. The backend provisions each person's Canton party behind the scenes on first sign-in. The crypto is invisible — the privacy is the only thing you notice.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8B7DF8"/>
                </a:solidFill>
                <a:latin typeface="Consolas"/>
              </a:rPr>
              <a:t>WHERE IT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4F5F6"/>
                </a:solidFill>
                <a:latin typeface="Arial"/>
              </a:rPr>
              <a:t>Payments &amp; neobanking</a:t>
            </a:r>
            <a:r>
              <a:rPr sz="2000" b="1">
                <a:solidFill>
                  <a:srgbClr val="8B7DF8"/>
                </a:solidFill>
                <a:latin typeface="Arial"/>
              </a:rPr>
              <a:t>   primary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200"/>
              </a:spcAft>
            </a:pPr>
            <a:r>
              <a:rPr sz="4000" b="1">
                <a:solidFill>
                  <a:srgbClr val="F4F5F6"/>
                </a:solidFill>
                <a:latin typeface="Arial"/>
              </a:rPr>
              <a:t>RWA &amp; tokenized deposits</a:t>
            </a:r>
            <a:r>
              <a:rPr sz="2000" b="1">
                <a:solidFill>
                  <a:srgbClr val="8B7DF8"/>
                </a:solidFill>
                <a:latin typeface="Arial"/>
              </a:rPr>
              <a:t>   secondary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9A9FA7"/>
                </a:solidFill>
                <a:latin typeface="Arial"/>
              </a:rPr>
              <a:t>First wedge: confidential payroll and contractor payouts for orgs that want stablecoin rails but can't expose comp. Then supplier settlement, grants, and tokenized-deposit payouts — anywhere many private payments must settle together and stay auditable.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777240"/>
            <a:ext cx="310896" cy="310896"/>
          </a:xfrm>
          <a:prstGeom prst="ellipse">
            <a:avLst/>
          </a:prstGeom>
          <a:noFill/>
          <a:ln w="25400">
            <a:solidFill>
              <a:srgbClr val="F4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8839" y="867399"/>
            <a:ext cx="130576" cy="130576"/>
          </a:xfrm>
          <a:prstGeom prst="ellipse">
            <a:avLst/>
          </a:prstGeom>
          <a:solidFill>
            <a:srgbClr val="8B7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75895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4F5F6"/>
                </a:solidFill>
                <a:latin typeface="Arial"/>
              </a:rPr>
              <a:t> Sotto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4F5F6"/>
                </a:solidFill>
                <a:latin typeface="Arial"/>
              </a:rPr>
              <a:t>Confidential payouts,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0"/>
              </a:spcAft>
            </a:pPr>
            <a:r>
              <a:rPr sz="4600" b="1">
                <a:solidFill>
                  <a:srgbClr val="F4F5F6"/>
                </a:solidFill>
                <a:latin typeface="Arial"/>
              </a:rPr>
              <a:t>enforced by the ledger.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9A9FA7"/>
                </a:solidFill>
                <a:latin typeface="Arial"/>
              </a:rPr>
              <a:t>Pay everyone at once · show each person only their line · let an auditor verify all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4FD497"/>
                </a:solidFill>
                <a:latin typeface="Arial"/>
              </a:rPr>
              <a:t>🔗  sotto-pay.vercel.app</a:t>
            </a:r>
            <a:r>
              <a:rPr sz="1500" b="0">
                <a:solidFill>
                  <a:srgbClr val="6B6F77"/>
                </a:solidFill>
                <a:latin typeface="Arial"/>
              </a:rPr>
              <a:t>        github.com/frankolien/sotto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